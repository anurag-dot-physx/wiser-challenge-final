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457200" cy="6858000"/>
          </a:xfrm>
          <a:prstGeom prst="rect">
            <a:avLst/>
          </a:prstGeom>
          <a:solidFill>
            <a:srgbClr val="E36A36"/>
          </a:solidFill>
          <a:ln w="12700">
            <a:solidFill>
              <a:srgbClr val="E36A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QUANTUM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PORTFOLIO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CO-PILOT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DFE5"/>
                </a:solidFill>
              </a:rPr>
              <a:t>WISER x Vanguard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DFE5"/>
                </a:solidFill>
              </a:rPr>
              <a:t>Quantum for Finance Challenge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5968" y="118872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126"/>
                </a:solidFill>
              </a:rPr>
              <a:t>Quantum-Enhanced Multi-Asset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02126"/>
                </a:solidFill>
              </a:rPr>
              <a:t>Portfolio Construction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52544" y="243230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5"/>
                </a:solidFill>
              </a:rPr>
              <a:t>Anurag Sarkar  |  Ankit Gill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52544" y="278892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6B72"/>
                </a:solidFill>
              </a:rPr>
              <a:t>Audited classical optimization + exact QUBO/QAOA benchmark + higher-moment HUBO/VQE research extension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61688" y="3794760"/>
            <a:ext cx="2651760" cy="310896"/>
          </a:xfrm>
          <a:prstGeom prst="round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386334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ZERO HARD-CONSTRAINT BREACHES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78040" y="3794760"/>
            <a:ext cx="2423160" cy="310896"/>
          </a:xfrm>
          <a:prstGeom prst="round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2904" y="3863340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EXACT CLASSICAL 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84080" y="3794760"/>
            <a:ext cx="1783080" cy="310896"/>
          </a:xfrm>
          <a:prstGeom prst="round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38944" y="3863340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QUANTUM-COMPATIBLE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70832" y="4892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5"/>
                </a:solidFill>
              </a:rPr>
              <a:t>github.com/anurag-dot-physx/wiser-challenge-final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0832" y="551383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2"/>
                </a:solidFill>
              </a:rPr>
              <a:t>Claim boundary: quantum results are benchmarked against exact enumerable references; no quantum-advantage claim.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and scoring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</a:rPr>
              <a:t>Optimize expected utility while preserving hard investment guardrails and interpretability.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Portfolio utility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Expected return + variance risk + income + implementation cost + scenario/drawdown control.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407408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41732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Hard guardrails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947672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Fully invested, long-only, single-asset cap, equity maximum, defensive minimum, alternatives maximum.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119872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417320"/>
            <a:ext cx="64008" cy="1417320"/>
          </a:xfrm>
          <a:prstGeom prst="rect">
            <a:avLst/>
          </a:prstGeom>
          <a:solidFill>
            <a:srgbClr val="E36A36"/>
          </a:solidFill>
          <a:ln w="12700">
            <a:solidFill>
              <a:srgbClr val="E36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Quantum compatibility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02752" y="1947672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Binary variables, linear constraints and a quadratic cost function that can be audited classically.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713232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6"/>
                </a:solidFill>
              </a:rPr>
              <a:t>What the solution must show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" y="3749040"/>
            <a:ext cx="55778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02126"/>
                </a:solidFill>
              </a:rPr>
              <a:t>Classical baseline, then constraints and scenario penalties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02126"/>
                </a:solidFill>
              </a:rPr>
              <a:t>Tunable growth, income, drawdown and cost sensitivity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02126"/>
                </a:solidFill>
              </a:rPr>
              <a:t>Risk/return/turnover/breach comparison with rationale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02126"/>
                </a:solidFill>
              </a:rPr>
              <a:t>Working co-pilot and classical validation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12280" y="342900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3429000"/>
            <a:ext cx="64008" cy="182880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357530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Design principle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3959352"/>
            <a:ext cx="425196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Feasibility first. Every production recommendation is post-validated; every quantum-compatible encoding is compared with an exact classical reference.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731520" y="60624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2"/>
                </a:solidFill>
              </a:rPr>
              <a:t>Source: WISER &lt;&gt; Vanguard Quantum for Finance challenge brief.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</a:rPr>
              <a:t>Separate the production recommendation from research benchmarks so comparisons remain valid.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84708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64008" cy="2194560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751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Inputs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1527048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Synthetic/anonymized assumptions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+ investor controls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2468880" y="2926080"/>
            <a:ext cx="384048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1828800"/>
            <a:ext cx="184708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828800"/>
            <a:ext cx="64008" cy="219456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9751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Production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2359152"/>
            <a:ext cx="1527048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8-asset convex QP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+ explicit guardrails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84048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828800"/>
            <a:ext cx="184708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1828800"/>
            <a:ext cx="64008" cy="219456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9751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Audit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2359152"/>
            <a:ext cx="1527048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Continuous QP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+ exact 10% grid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040880" y="2926080"/>
            <a:ext cx="384048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1828800"/>
            <a:ext cx="184708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828800"/>
            <a:ext cx="64008" cy="219456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9751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Reduced quantum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35240" y="2359152"/>
            <a:ext cx="1527048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Bounded bits + slack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+ exact QUBO + QAOA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9326880" y="2926080"/>
            <a:ext cx="384048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38360" y="1828800"/>
            <a:ext cx="184708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38360" y="1828800"/>
            <a:ext cx="64008" cy="2194560"/>
          </a:xfrm>
          <a:prstGeom prst="rect">
            <a:avLst/>
          </a:prstGeom>
          <a:solidFill>
            <a:srgbClr val="E36A36"/>
          </a:solidFill>
          <a:ln w="12700">
            <a:solidFill>
              <a:srgbClr val="E36A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19751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Research extension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21240" y="2359152"/>
            <a:ext cx="1527048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Higher moments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+ CMA-ES + VQE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+ quadratization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1828800" y="4754880"/>
            <a:ext cx="8458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4754880"/>
            <a:ext cx="64008" cy="86868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901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Key separation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11680" y="5285232"/>
            <a:ext cx="81381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The eight-asset production solution is never compared directly with the reduced 5-sleeve quantum encoding. Each quantum result is judged against its own exact optimum.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Flagship model: convex quadratic utility + linear guardrails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812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47088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J(w) = - λμ μᵀw + λr wᵀΣw - λy yᵀw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2021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+ λT (w-w₀)ᵀR(w-w₀) + λs · mean[(ℓsᵀw)²]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845552" y="1417320"/>
            <a:ext cx="354787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45552" y="1417320"/>
            <a:ext cx="64008" cy="196596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156362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Convexity audit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28432" y="1947672"/>
            <a:ext cx="3227832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Σ, R and the scenario Gram matrix are positive semidefinite; the Hessian is positive semidefinite for every canonical profile.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749808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6"/>
                </a:solidFill>
              </a:rPr>
              <a:t>Hard linear guardrails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4251960"/>
            <a:ext cx="37947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Σᵢ wᵢ = 1 and wᵢ ≥ 0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single-asset maximum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equity exposure maximum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defensive exposure minimum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alternatives exposure maximum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74920" y="39776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3977640"/>
            <a:ext cx="64008" cy="1508760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41239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Investor controls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4507992"/>
            <a:ext cx="24231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Growth · risk · income · drawdown · rebalancing sensitivity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183880" y="3977640"/>
            <a:ext cx="3200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3977640"/>
            <a:ext cx="64008" cy="150876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41239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Reported metrics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4507992"/>
            <a:ext cx="28803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Expected return · volatility · risk-adjusted ratio · turnover · cost · scenario loss · breaches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Classical audit: exact enumeration verifies the production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</a:rPr>
              <a:t>The 10% grid contains 19,448 fully invested portfolios.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7406640" cy="1874520"/>
        </p:xfrm>
        <a:graphic>
          <a:graphicData uri="http://schemas.openxmlformats.org/drawingml/2006/table">
            <a:tbl>
              <a:tblPr/>
              <a:tblGrid>
                <a:gridCol w="1051560"/>
                <a:gridCol w="1325880"/>
                <a:gridCol w="1188720"/>
                <a:gridCol w="1325880"/>
                <a:gridCol w="1051560"/>
                <a:gridCol w="1463040"/>
              </a:tblGrid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Profile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Form error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min eig(H)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QP→grid gap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QUBO vars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Feasible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5.55e-17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1.010e-02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0.00081799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13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108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Balanced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6.94e-17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2.185e-02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0.00066947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15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66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Defensive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4.86e-17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3.365e-02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0.00140581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126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481328"/>
            <a:ext cx="29718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0" y="1481328"/>
            <a:ext cx="64008" cy="187452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PASS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0" y="2011680"/>
            <a:ext cx="26517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Zero canonical hard breaches. QUBO ground portfolio matches its exact reduced financial optimum.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731520" y="40233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4023360"/>
            <a:ext cx="64008" cy="141732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169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Cost-sensitivity check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553712"/>
            <a:ext cx="48920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One-way turnover changes from 40% at λT = 0 to 15% at λT = 2, demonstrating a material implementation-cost control.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6400800" y="40233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4023360"/>
            <a:ext cx="64008" cy="1417320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4169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83680" y="4553712"/>
            <a:ext cx="46634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Objective decomposition matches matrix form to numerical precision; the continuous solution is a lower bound to the exact-grid objective, as expected.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Reduced exact-constraint QUBO and QAOA benchmark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532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E(x,s) = J(Ax) + P Σₖ (cₖᵀx + dₖᵀsₖ - tₖ)²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1508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417320"/>
            <a:ext cx="64008" cy="1645920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563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Growth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1947672"/>
            <a:ext cx="11887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13 vars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108 feasible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1508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1417320"/>
            <a:ext cx="64008" cy="164592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563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Balanced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1947672"/>
            <a:ext cx="11887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15 vars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66 feasible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9829800" y="1417320"/>
            <a:ext cx="1508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29800" y="1417320"/>
            <a:ext cx="64008" cy="16459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2680" y="1563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Defensive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12680" y="1947672"/>
            <a:ext cx="11887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11 vars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2 feasible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713232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6"/>
                </a:solidFill>
              </a:rPr>
              <a:t>Exhaustive checks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" y="4050792"/>
            <a:ext cx="54864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constraint-consistent states imply hard-feasible portfolios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unique consistent portfolios = unique hard-feasible portfolios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global QUBO ground is hard-feasible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126"/>
                </a:solidFill>
              </a:rPr>
              <a:t>global QUBO ground matches reduced exact optimum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767328"/>
            <a:ext cx="48463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767328"/>
            <a:ext cx="64008" cy="169164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9136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QAOA benchmark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4297680"/>
            <a:ext cx="452628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Run only after the exact QUBO audit passes. Finite-shot post-processing selects among observed hard-feasible portfolios; fallback, probability mass and optimality gap are explicit.</a:t>
            </a:r>
            <a:endParaRPr lang="en-US" sz="11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co-pilot: optimization translated into investor-facing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2743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443484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179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Controls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901952"/>
            <a:ext cx="24231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Profile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Growth priority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Risk control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Income priority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Drawdown control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Cost sensitivity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Exposure guardrails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584448" y="3566160"/>
            <a:ext cx="566928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15968" y="1417320"/>
            <a:ext cx="3063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417320"/>
            <a:ext cx="64008" cy="1078992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563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Allocation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1947672"/>
            <a:ext cx="2743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Current vs continuous QP vs exact grid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744968" y="1417320"/>
            <a:ext cx="3063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4968" y="1417320"/>
            <a:ext cx="64008" cy="1078992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1563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Risk / return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27848" y="1947672"/>
            <a:ext cx="2743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Expected return, volatility, risk-adjusted ratio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315968" y="2788920"/>
            <a:ext cx="3063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2788920"/>
            <a:ext cx="64008" cy="1078992"/>
          </a:xfrm>
          <a:prstGeom prst="rect">
            <a:avLst/>
          </a:prstGeom>
          <a:solidFill>
            <a:srgbClr val="E36A36"/>
          </a:solidFill>
          <a:ln w="12700">
            <a:solidFill>
              <a:srgbClr val="E36A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935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Implementation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98848" y="3319272"/>
            <a:ext cx="2743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One-way turnover, gross turnover, estimated cost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744968" y="2788920"/>
            <a:ext cx="3063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44968" y="27889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27848" y="2935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Guardrails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27848" y="3319272"/>
            <a:ext cx="2743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PASS/FAIL checks for all hard constraints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4315968" y="4160520"/>
            <a:ext cx="3063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5968" y="4160520"/>
            <a:ext cx="64008" cy="107899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306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Scenarios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98848" y="4690872"/>
            <a:ext cx="2743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Worst modeled scenario loss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7744968" y="4160520"/>
            <a:ext cx="3063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44968" y="4160520"/>
            <a:ext cx="64008" cy="1078992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27848" y="4306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Rationale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27848" y="4690872"/>
            <a:ext cx="2743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Largest allocations and changes in plain language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4663440" y="55961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35"/>
                </a:solidFill>
              </a:rPr>
              <a:t>The co-pilot is the business-facing layer; exact audits remain underneath every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Higher-moment extension: learn the Hamiltonian, then benchmark VQE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5486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2021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E(m) = -λμ μᵀm + λΣ mᵀΣm - λS ΣSᵢⱼₖmᵢmⱼmₖ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dirty="0">
                <a:solidFill>
                  <a:srgbClr val="2021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+ λK ΣKᵢⱼₖₗmᵢmⱼmₖmₗ + λB(Σmᵢ-8)²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537960" y="1371600"/>
            <a:ext cx="226771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371600"/>
            <a:ext cx="64008" cy="164592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51790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12 qubits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1901952"/>
            <a:ext cx="19476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4 assets × 3 bits. Full source tensors. USD 1,250 unit makes 8 units exactly USD 10,000.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9098280" y="1371600"/>
            <a:ext cx="226771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1371600"/>
            <a:ext cx="64008" cy="1645920"/>
          </a:xfrm>
          <a:prstGeom prst="rect">
            <a:avLst/>
          </a:prstGeom>
          <a:solidFill>
            <a:srgbClr val="E36A36"/>
          </a:solidFill>
          <a:ln w="12700">
            <a:solidFill>
              <a:srgbClr val="E36A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51790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15 qubits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81160" y="1901952"/>
            <a:ext cx="19476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5 assets × 3 bits. Scaling demo; mixed TSLA+NVDA higher-moment terms are zero-imputed.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94760"/>
            <a:ext cx="64008" cy="1298448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TRAIN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325112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CMA-ES learns λ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090672" y="4434840"/>
            <a:ext cx="347472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47872" y="379476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3794760"/>
            <a:ext cx="64008" cy="1298448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SELECT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30752" y="4325112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Choose G* on 5 validation sectors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5907024" y="4434840"/>
            <a:ext cx="347472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64224" y="379476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4224" y="3794760"/>
            <a:ext cx="64008" cy="1298448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HOLD OUT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47104" y="4325112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Freeze model; test 5 untouched sectors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723376" y="4434840"/>
            <a:ext cx="347472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80576" y="379476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0576" y="3794760"/>
            <a:ext cx="64008" cy="129844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63456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QUANTUM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63456" y="4325112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Sweep final VQE budget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1143000" y="56235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B1E35"/>
                </a:solidFill>
              </a:rPr>
              <a:t>Efficiency: state features are cached once; VQE is intentionally outside the CMA-ES coefficient-training loop.</a:t>
            </a:r>
            <a:endParaRPr lang="en-US" sz="12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HUBO → QUBO quadratization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64008" cy="20116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Original HUBO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35204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Cubic + quartic pseudo-Boolean interactions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12 or 15 native allocation bits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709160" y="2514600"/>
            <a:ext cx="822960" cy="0"/>
          </a:xfrm>
          <a:prstGeom prst="line">
            <a:avLst/>
          </a:prstGeom>
          <a:noFill/>
          <a:ln w="19050">
            <a:solidFill>
              <a:srgbClr val="6B6B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50992" y="1508760"/>
            <a:ext cx="4983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50992" y="1508760"/>
            <a:ext cx="64008" cy="201168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1655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Rosenberg product constraint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33872" y="2039112"/>
            <a:ext cx="46634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Introduce y = ab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Add P(ab - 2ay - 2by + 3y)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Choose P above a rigorous objective range bound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331012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69080"/>
            <a:ext cx="64008" cy="137160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1538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Energy equivalence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599432"/>
            <a:ext cx="29900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Every original state has identical energy after consistent ancilla lifting.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434840" y="4069080"/>
            <a:ext cx="331012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4069080"/>
            <a:ext cx="64008" cy="1371600"/>
          </a:xfrm>
          <a:prstGeom prst="rect">
            <a:avLst/>
          </a:prstGeom>
          <a:solidFill>
            <a:srgbClr val="315A8A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21538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Ground-state equivalence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4599432"/>
            <a:ext cx="29900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Lifted QUBO ground portfolio is checked against the exact HUBO ground.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092440" y="4069080"/>
            <a:ext cx="331012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4069080"/>
            <a:ext cx="64008" cy="1371600"/>
          </a:xfrm>
          <a:prstGeom prst="rect">
            <a:avLst/>
          </a:prstGeom>
          <a:solidFill>
            <a:srgbClr val="E36A36"/>
          </a:solidFill>
          <a:ln w="12700">
            <a:solidFill>
              <a:srgbClr val="E36A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421538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Scalability trade-off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75320" y="4599432"/>
            <a:ext cx="29900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Higher-order couplers are removed at the cost of additional binary variables.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Findings, limitations and reviewer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2"/>
                </a:solidFill>
              </a:rPr>
              <a:t>WISER x Vanguard | Quantum for Finance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1828800"/>
          </a:xfrm>
          <a:prstGeom prst="rect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1790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Established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901952"/>
            <a:ext cx="3136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Convex flagship objective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Complete 19,448-state grid audit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Zero canonical hard breaches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Exact reduced-QUBO ground match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371600"/>
            <a:ext cx="64008" cy="18288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1790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Exploratory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1901952"/>
            <a:ext cx="3136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QAOA/VQE solver quality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Higher-moment calibration stability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15-qubit stitched scaling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Ancilla overhead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083296" y="137160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371600"/>
            <a:ext cx="64008" cy="1828800"/>
          </a:xfrm>
          <a:prstGeom prst="rect">
            <a:avLst/>
          </a:prstGeom>
          <a:solidFill>
            <a:srgbClr val="7B1E35"/>
          </a:solidFill>
          <a:ln w="12700">
            <a:solidFill>
              <a:srgbClr val="7B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151790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Claim boundary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66176" y="1901952"/>
            <a:ext cx="3136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No production quantum speedup claim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No economic outperformance claim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No restricted Vanguard data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Not investment advice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6"/>
                </a:solidFill>
              </a:rPr>
              <a:t>Reproduce the flagship audit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224528"/>
            <a:ext cx="6400800" cy="1325880"/>
          </a:xfrm>
          <a:prstGeom prst="roundRect">
            <a:avLst/>
          </a:prstGeom>
          <a:solidFill>
            <a:srgbClr val="1F2025"/>
          </a:solidFill>
          <a:ln w="12700">
            <a:solidFill>
              <a:srgbClr val="1F2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480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5F5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clone https://github.com/anurag-dot-physx/wiser-challenge-final.git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5F5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pip install -r requirements.txt &amp;&amp; pip install -e 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5F5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pytest -q &amp;&amp; python src/audit_quadratic_model.py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5F5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streamlit run src/vanguard_copilot_app.py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543800" y="4023360"/>
            <a:ext cx="38862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4023360"/>
            <a:ext cx="64008" cy="1572768"/>
          </a:xfrm>
          <a:prstGeom prst="rect">
            <a:avLst/>
          </a:prstGeom>
          <a:solidFill>
            <a:srgbClr val="E36A36"/>
          </a:solidFill>
          <a:ln w="12700">
            <a:solidFill>
              <a:srgbClr val="E36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6"/>
                </a:solidFill>
              </a:rPr>
              <a:t>Submission takeaway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26680" y="4553712"/>
            <a:ext cx="35661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Feasible first.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Exact reference second.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B6B72"/>
                </a:solidFill>
              </a:rPr>
              <a:t>Quantum benchmark third.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WISER Global Quantum+AI Program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Quantum-Enhanced Multi-Asset Portfolio Co-Pilot</dc:title>
  <dc:subject>PptxGenJS Presentation</dc:subject>
  <dc:creator>Anurag Sarkar; Ankit Gill</dc:creator>
  <cp:lastModifiedBy>Anurag Sarkar; Ankit Gill</cp:lastModifiedBy>
  <cp:revision>1</cp:revision>
  <dcterms:created xsi:type="dcterms:W3CDTF">2026-08-07T19:11:23Z</dcterms:created>
  <dcterms:modified xsi:type="dcterms:W3CDTF">2026-08-07T19:11:23Z</dcterms:modified>
</cp:coreProperties>
</file>